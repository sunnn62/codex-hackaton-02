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27a672528d46d7" /><Relationship Type="http://schemas.openxmlformats.org/officeDocument/2006/relationships/extended-properties" Target="/docProps/app.xml" Id="R0611acbc0e334925" /><Relationship Type="http://schemas.openxmlformats.org/officeDocument/2006/relationships/officeDocument" Target="/ppt/presentation.xml" Id="R0dc372415ecf48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ab221f7cfa406f"/>
  </p:sldMasterIdLst>
  <p:notesMasterIdLst>
    <p:notesMasterId xmlns:r="http://schemas.openxmlformats.org/officeDocument/2006/relationships" r:id="R84a4b7cedd084139"/>
  </p:notesMasterIdLst>
  <p:sldIdLst>
    <p:sldId xmlns:r="http://schemas.openxmlformats.org/officeDocument/2006/relationships" id="256" r:id="R5e182bfc40864085"/>
    <p:sldId xmlns:r="http://schemas.openxmlformats.org/officeDocument/2006/relationships" id="257" r:id="R2e4f9a20a6cf451a"/>
    <p:sldId xmlns:r="http://schemas.openxmlformats.org/officeDocument/2006/relationships" id="258" r:id="Rc054a416327f4da2"/>
    <p:sldId xmlns:r="http://schemas.openxmlformats.org/officeDocument/2006/relationships" id="259" r:id="R1b5e978cf47d4219"/>
    <p:sldId xmlns:r="http://schemas.openxmlformats.org/officeDocument/2006/relationships" id="260" r:id="R8e657430bfa142ad"/>
    <p:sldId xmlns:r="http://schemas.openxmlformats.org/officeDocument/2006/relationships" id="261" r:id="R3887f5d5e754473e"/>
    <p:sldId xmlns:r="http://schemas.openxmlformats.org/officeDocument/2006/relationships" id="262" r:id="Rfb911969c3914598"/>
    <p:sldId xmlns:r="http://schemas.openxmlformats.org/officeDocument/2006/relationships" id="263" r:id="R522f925123304b8b"/>
    <p:sldId xmlns:r="http://schemas.openxmlformats.org/officeDocument/2006/relationships" id="264" r:id="Rfa256ab415c24830"/>
    <p:sldId xmlns:r="http://schemas.openxmlformats.org/officeDocument/2006/relationships" id="265" r:id="Rb7aacbcaadc64adf"/>
    <p:sldId xmlns:r="http://schemas.openxmlformats.org/officeDocument/2006/relationships" id="266" r:id="R66e0f93a72a04078"/>
    <p:sldId xmlns:r="http://schemas.openxmlformats.org/officeDocument/2006/relationships" id="267" r:id="R740ab7a15d0048c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a6e2b896ceb4a93" /><Relationship Type="http://schemas.openxmlformats.org/officeDocument/2006/relationships/slideMaster" Target="/ppt/slideMasters/slideMaster1.xml" Id="R9eab221f7cfa406f" /><Relationship Type="http://schemas.openxmlformats.org/officeDocument/2006/relationships/notesMaster" Target="/ppt/notesMasters/notesMaster1.xml" Id="R84a4b7cedd084139" /><Relationship Type="http://schemas.openxmlformats.org/officeDocument/2006/relationships/presProps" Target="/ppt/presProps.xml" Id="R6f2d859a3d964dc5" /><Relationship Type="http://schemas.openxmlformats.org/officeDocument/2006/relationships/tableStyles" Target="/ppt/tableStyles.xml" Id="R3b791c7095c24bba" /><Relationship Type="http://schemas.openxmlformats.org/officeDocument/2006/relationships/slide" Target="/ppt/slides/slide1.xml" Id="R5e182bfc40864085" /><Relationship Type="http://schemas.openxmlformats.org/officeDocument/2006/relationships/slide" Target="/ppt/slides/slide2.xml" Id="R2e4f9a20a6cf451a" /><Relationship Type="http://schemas.openxmlformats.org/officeDocument/2006/relationships/slide" Target="/ppt/slides/slide3.xml" Id="Rc054a416327f4da2" /><Relationship Type="http://schemas.openxmlformats.org/officeDocument/2006/relationships/slide" Target="/ppt/slides/slide4.xml" Id="R1b5e978cf47d4219" /><Relationship Type="http://schemas.openxmlformats.org/officeDocument/2006/relationships/slide" Target="/ppt/slides/slide5.xml" Id="R8e657430bfa142ad" /><Relationship Type="http://schemas.openxmlformats.org/officeDocument/2006/relationships/slide" Target="/ppt/slides/slide6.xml" Id="R3887f5d5e754473e" /><Relationship Type="http://schemas.openxmlformats.org/officeDocument/2006/relationships/slide" Target="/ppt/slides/slide7.xml" Id="Rfb911969c3914598" /><Relationship Type="http://schemas.openxmlformats.org/officeDocument/2006/relationships/slide" Target="/ppt/slides/slide8.xml" Id="R522f925123304b8b" /><Relationship Type="http://schemas.openxmlformats.org/officeDocument/2006/relationships/slide" Target="/ppt/slides/slide9.xml" Id="Rfa256ab415c24830" /><Relationship Type="http://schemas.openxmlformats.org/officeDocument/2006/relationships/slide" Target="/ppt/slides/slide10.xml" Id="Rb7aacbcaadc64adf" /><Relationship Type="http://schemas.openxmlformats.org/officeDocument/2006/relationships/slide" Target="/ppt/slides/slide11.xml" Id="R66e0f93a72a04078" /><Relationship Type="http://schemas.openxmlformats.org/officeDocument/2006/relationships/slide" Target="/ppt/slides/slide12.xml" Id="R740ab7a15d0048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1ba95415b645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b019ffe3b34951" /><Relationship Type="http://schemas.openxmlformats.org/officeDocument/2006/relationships/notesMaster" Target="/ppt/notesMasters/notesMaster1.xml" Id="R30d609682b8e40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b7662c1838d48fd" /><Relationship Type="http://schemas.openxmlformats.org/officeDocument/2006/relationships/notesMaster" Target="/ppt/notesMasters/notesMaster1.xml" Id="Ra197656b4c79411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eee6ba4cba411c" /><Relationship Type="http://schemas.openxmlformats.org/officeDocument/2006/relationships/notesMaster" Target="/ppt/notesMasters/notesMaster1.xml" Id="R9f43928281db49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2dd00e078a4c4a" /><Relationship Type="http://schemas.openxmlformats.org/officeDocument/2006/relationships/notesMaster" Target="/ppt/notesMasters/notesMaster1.xml" Id="R02a3f68a7a8c4d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a2d6b55b9ac40f6" /><Relationship Type="http://schemas.openxmlformats.org/officeDocument/2006/relationships/notesMaster" Target="/ppt/notesMasters/notesMaster1.xml" Id="Rf4786dab12fc48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2ff64230d6e4bf9" /><Relationship Type="http://schemas.openxmlformats.org/officeDocument/2006/relationships/notesMaster" Target="/ppt/notesMasters/notesMaster1.xml" Id="R186a47533e1742d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1081cefbb734cfc" /><Relationship Type="http://schemas.openxmlformats.org/officeDocument/2006/relationships/notesMaster" Target="/ppt/notesMasters/notesMaster1.xml" Id="R4b1d2b200bcd476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fbe1a6e27004d40" /><Relationship Type="http://schemas.openxmlformats.org/officeDocument/2006/relationships/notesMaster" Target="/ppt/notesMasters/notesMaster1.xml" Id="R2ee7f017cc2d45d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7e2580717b34932" /><Relationship Type="http://schemas.openxmlformats.org/officeDocument/2006/relationships/notesMaster" Target="/ppt/notesMasters/notesMaster1.xml" Id="R806ba5742a1d490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35116e03a994f67" /><Relationship Type="http://schemas.openxmlformats.org/officeDocument/2006/relationships/notesMaster" Target="/ppt/notesMasters/notesMaster1.xml" Id="Rbbcfee6eb4d4451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bc2d7d4ba2944a9" /><Relationship Type="http://schemas.openxmlformats.org/officeDocument/2006/relationships/notesMaster" Target="/ppt/notesMasters/notesMaster1.xml" Id="Rc4d824452bb94d4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41947d7c79b49b8" /><Relationship Type="http://schemas.openxmlformats.org/officeDocument/2006/relationships/notesMaster" Target="/ppt/notesMasters/notesMaster1.xml" Id="Rf8ffdb00f41d48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PersonaFlight는 사람처럼 말하는 AI 테스터가 아니라, 1인 바이브코더가 출시 전에 UX 실패를 재현하고 수정 전후를 같은 조건으로 증명하는 Replay Court입니다.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https://github.com/sunnn62/Codex-Hackaton-02</a:t>
            </a:r>
          </a:p>
          <a:p xmlns:a="http://schemas.openxmlformats.org/drawingml/2006/main">
            <a:r>
              <a:t>- C:/Users/yenac/Documents/Codex/2026-08-16/new-chat/outputs/PersonaFlight_demo.mp4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문제는 아이디어가 아니라 검증 루프입니다. 일반적인 AI 의견은 재현도 책임도 남지 않습니다. PersonaFlight는 의견을 증거와 재실행 가능한 기록으로 바꿉니다.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https://github.com/sunnn62/Codex-Hackaton-02</a:t>
            </a:r>
          </a:p>
          <a:p xmlns:a="http://schemas.openxmlformats.org/drawingml/2006/main">
            <a:r>
              <a:t>- C:/Users/yenac/Documents/Codex/2026-08-16/new-chat/outputs/personaflight-mvp/docs/PRODUCT_SPEC.md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페르소나를 인구통계로 단정하지 않고 행동 제약을 독립 축으로 분리했습니다. 비교할 때 미션, 버전, 세 조건이 그대로여야 하므로 결과를 임의로 유리하게 바꿀 수 없습니다.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https://github.com/sunnn62/Codex-Hackaton-02/pull/1</a:t>
            </a:r>
          </a:p>
          <a:p xmlns:a="http://schemas.openxmlformats.org/drawingml/2006/main">
            <a:r>
              <a:t>- C:/Users/yenac/Documents/Codex/2026-08-16/new-chat/outputs/personaflight-mvp/src/lib/contracts/replay.ts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데모에서는 네 번만 봅니다. 계획에서 세 조건을 선언하고, 병렬 실행에서 0/3 실패 증거를 남기고, 리뷰에서 최소 수정안을 사람이 승인한 뒤, 같은 조건으로 3/3을 재검증합니다.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C:/Users/yenac/Documents/Codex/2026-08-16/new-chat/outputs/PersonaFlight_demo.mp4</a:t>
            </a:r>
          </a:p>
          <a:p xmlns:a="http://schemas.openxmlformats.org/drawingml/2006/main">
            <a:r>
              <a:t>- C:/Users/yenac/Documents/Codex/2026-08-16/new-chat/outputs/personaflight-mvp/tests/e2e/replay-court.spec.ts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왼쪽은 조건별 Evidence ID가 남은 BEFORE 0/3, 오른쪽은 같은 조건을 통과한 AFTER 3/3입니다. 결과는 Flight Record와 regression seed JSON으로 재사용할 수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C:/Users/yenac/Documents/Codex/2026-08-16/new-chat/outputs/qa-artifacts/flight-record-desktop.png</a:t>
            </a:r>
          </a:p>
          <a:p xmlns:a="http://schemas.openxmlformats.org/drawingml/2006/main">
            <a:r>
              <a:t>- C:/Users/yenac/Documents/Codex/2026-08-16/new-chat/outputs/PersonaFlight_demo_regression_seed.json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사람은 목표와 윤리 경계, 승인 권한을 정했고 Codex는 계약, 작업 분해, 병렬 브랜치, 리뷰, 검증을 담당했습니다. 특히 PC2 PR은 build가 통과해도 E2E가 깨졌을 때 병합하지 않았고, green 후에만 통합했습니다.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https://github.com/sunnn62/Codex-Hackaton-02/pull/1</a:t>
            </a:r>
          </a:p>
          <a:p xmlns:a="http://schemas.openxmlformats.org/drawingml/2006/main">
            <a:r>
              <a:t>- https://github.com/sunnn62/Codex-Hackaton-02/pull/2</a:t>
            </a:r>
          </a:p>
          <a:p xmlns:a="http://schemas.openxmlformats.org/drawingml/2006/main">
            <a:r>
              <a:t>- https://github.com/sunnn62/Codex-Hackaton-02/pull/3</a:t>
            </a:r>
          </a:p>
          <a:p xmlns:a="http://schemas.openxmlformats.org/drawingml/2006/main">
            <a:r>
              <a:t>- C:/Users/yenac/Documents/Codex/2026-08-16/new-chat/outputs/personaflight-mvp/docs/ORCHESTRATION.md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UI는 Next와 React, 핵심 계약은 Zod, 비교와 seed는 replay engine, 검증은 Vitest와 Playwright입니다. 품질 수치보다 중요한 규칙은 인프라 실패나 부분 실패를 성공으로 표시하지 않는 것입니다.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https://github.com/sunnn62/Codex-Hackaton-02/actions/runs/31935260097</a:t>
            </a:r>
          </a:p>
          <a:p xmlns:a="http://schemas.openxmlformats.org/drawingml/2006/main">
            <a:r>
              <a:t>- C:/Users/yenac/Documents/Codex/2026-08-16/new-chat/outputs/personaflight-mvp/src/lib/contracts/replay.ts</a:t>
            </a:r>
          </a:p>
          <a:p xmlns:a="http://schemas.openxmlformats.org/drawingml/2006/main">
            <a:r>
              <a:t>- C:/Users/yenac/Documents/Codex/2026-08-16/new-chat/outputs/personaflight-mvp/tests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오늘은 고정 fixture에서 증거와 재실행 계약을 검증했습니다. 다음은 실제 preview URL을 격리 브라우저에서 실행하고, 승인된 최소 patch를 같은 seed로 재실행해 PR과 CI에 Flight Record를 붙이는 것입니다.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https://github.com/sunnn62/Codex-Hackaton-02</a:t>
            </a:r>
          </a:p>
          <a:p xmlns:a="http://schemas.openxmlformats.org/drawingml/2006/main">
            <a:r>
              <a:t>- C:/Users/yenac/Documents/Codex/2026-08-16/new-chat/outputs/personaflight-mvp/docs/VALUE_AND_VIABILITY.md</a:t>
            </a:r>
          </a:p>
          <a:p xmlns:a="http://schemas.openxmlformats.org/drawingml/2006/main">
            <a:r>
              <a:t>- C:/Users/yenac/Documents/Codex/2026-08-16/new-chat/work/presentation-final/frames/frame-33.png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부록입니다. 핵심 데이터 구조를 타입과 런타임 검증으로 고정했고, 결과 수치와 verdict가 서로 모순되지 않도록 비교 규칙을 테스트합니다.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https://github.com/sunnn62/Codex-Hackaton-02/pull/1</a:t>
            </a:r>
          </a:p>
          <a:p xmlns:a="http://schemas.openxmlformats.org/drawingml/2006/main">
            <a:r>
              <a:t>- C:/Users/yenac/Documents/Codex/2026-08-16/new-chat/outputs/personaflight-mvp/src/lib/contracts/replay.ts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PC4 QA PR의 Ubuntu CI에서 49 unit, 4 integration, 6 Chromium E2E와 coverage, build, artifact upload가 모두 통과했습니다.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https://github.com/sunnn62/Codex-Hackaton-02/actions/runs/31935260097</a:t>
            </a:r>
          </a:p>
          <a:p xmlns:a="http://schemas.openxmlformats.org/drawingml/2006/main">
            <a:r>
              <a:t>- https://github.com/sunnn62/Codex-Hackaton-02/pull/2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같은 baseline에서 파일 소유권과 완료 보고 형식을 고정해 병렬화했고, PR마다 검토와 CI gate를 거친 뒤 PC1이 통합했습니다.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https://github.com/sunnn62/Codex-Hackaton-02/pull/1</a:t>
            </a:r>
          </a:p>
          <a:p xmlns:a="http://schemas.openxmlformats.org/drawingml/2006/main">
            <a:r>
              <a:t>- https://github.com/sunnn62/Codex-Hackaton-02/pull/2</a:t>
            </a:r>
          </a:p>
          <a:p xmlns:a="http://schemas.openxmlformats.org/drawingml/2006/main">
            <a:r>
              <a:t>- https://github.com/sunnn62/Codex-Hackaton-02/pull/3</a:t>
            </a:r>
          </a:p>
          <a:p xmlns:a="http://schemas.openxmlformats.org/drawingml/2006/main">
            <a:r>
              <a:t>- C:/Users/yenac/Documents/Codex/2026-08-16/new-chat/outputs/personaflight-mvp/docs/WORKFLOW.md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현재는 외부 앱을 실시간 조작하는 범용 runner가 아니라 고정 fixture로 계약을 증명한 MVP입니다. 이 한계를 숨기지 않고 다음 단계의 검증 항목으로 명시합니다.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C:/Users/yenac/Documents/Codex/2026-08-16/new-chat/outputs/personaflight-mvp/docs/VALUE_AND_VIABILITY.md</a:t>
            </a:r>
          </a:p>
          <a:p xmlns:a="http://schemas.openxmlformats.org/drawingml/2006/main">
            <a:r>
              <a:t>- C:/Users/yenac/Documents/Codex/2026-08-16/new-chat/outputs/personaflight-mvp/docs/SUBMISSION_CHECKLIST.md</a:t>
            </a:r>
          </a:p>
          <a:p xmlns:a="http://schemas.openxmlformats.org/drawingml/2006/main">
            <a:r>
              <a:t>- C:/Users/yenac/Documents/Codex/2026-08-16/new-chat/work/presentation-final/frames/frame-33.png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8ff05a113246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893771c5b0415d" /><Relationship Type="http://schemas.openxmlformats.org/officeDocument/2006/relationships/slideLayout" Target="/ppt/slideLayouts/slideLayout1.xml" Id="Rb8b9c0dd3d834d6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b9c0dd3d834d6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213f03428456a" /><Relationship Type="http://schemas.openxmlformats.org/officeDocument/2006/relationships/notesSlide" Target="/ppt/notesSlides/notesSlide1.xml" Id="R5074a8f82d604be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7235534f2e4f28" /><Relationship Type="http://schemas.openxmlformats.org/officeDocument/2006/relationships/notesSlide" Target="/ppt/notesSlides/notesSlide2.xml" Id="Ra743ac02acdd48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68ed598bb04d7c" /><Relationship Type="http://schemas.openxmlformats.org/officeDocument/2006/relationships/notesSlide" Target="/ppt/notesSlides/notesSlide3.xml" Id="R75064f98d44f403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1b3345b8bf4492" /><Relationship Type="http://schemas.openxmlformats.org/officeDocument/2006/relationships/image" Target="/ppt/media/image.png" Id="Ra053b06b67ec4d96" /><Relationship Type="http://schemas.openxmlformats.org/officeDocument/2006/relationships/notesSlide" Target="/ppt/notesSlides/notesSlide4.xml" Id="R4a38c293209a430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1807dd92a04517" /><Relationship Type="http://schemas.openxmlformats.org/officeDocument/2006/relationships/image" Target="/ppt/media/image2.png" Id="R52905e65658c4fa8" /><Relationship Type="http://schemas.openxmlformats.org/officeDocument/2006/relationships/image" Target="/ppt/media/image3.png" Id="R4e65bc271c5a486c" /><Relationship Type="http://schemas.openxmlformats.org/officeDocument/2006/relationships/notesSlide" Target="/ppt/notesSlides/notesSlide5.xml" Id="R038b107b4c07413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c520d56e2c41a3" /><Relationship Type="http://schemas.openxmlformats.org/officeDocument/2006/relationships/notesSlide" Target="/ppt/notesSlides/notesSlide6.xml" Id="R625bde17cb004b6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3dcb101361402a" /><Relationship Type="http://schemas.openxmlformats.org/officeDocument/2006/relationships/notesSlide" Target="/ppt/notesSlides/notesSlide7.xml" Id="Rf933d758ded24d1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7b5c1d17be4a08" /><Relationship Type="http://schemas.openxmlformats.org/officeDocument/2006/relationships/notesSlide" Target="/ppt/notesSlides/notesSlide8.xml" Id="R677e6d1eb1da4be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56117354894014" /><Relationship Type="http://schemas.openxmlformats.org/officeDocument/2006/relationships/notesSlide" Target="/ppt/notesSlides/notesSlide9.xml" Id="Re03cce8283ef420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cc246303d4428b" /><Relationship Type="http://schemas.openxmlformats.org/officeDocument/2006/relationships/notesSlide" Target="/ppt/notesSlides/notesSlide10.xml" Id="Ra0831d357703441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1ebb5f50884fa4" /><Relationship Type="http://schemas.openxmlformats.org/officeDocument/2006/relationships/notesSlide" Target="/ppt/notesSlides/notesSlide11.xml" Id="R485772aec5b449a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185ddd70c44cb1" /><Relationship Type="http://schemas.openxmlformats.org/officeDocument/2006/relationships/notesSlide" Target="/ppt/notesSlides/notesSlide12.xml" Id="Rb1fd2262f446432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5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E02398-90BA-45D9-8DD1-D0BBFD95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F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2022D6-010C-44F2-AFEA-A88C787D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2238375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0E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404078-4CAD-4ED1-936D-EB84327D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20859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PRE-RELEASE UX REGRESSION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ED8F75-60C2-4088-84E9-FCE7B057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6572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PersonaFlight</a:t>
            </a:r>
          </a:p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Replay Court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128BC9-1245-4BF4-8287-794639E60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71850"/>
            <a:ext cx="647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AI 의견이 아니라, 실패 증거와 동일 조건 재실행으로</a:t>
            </a:r>
          </a:p>
          <a:p xmlns:a="http://schemas.openxmlformats.org/drawingml/2006/main">
            <a:pPr algn="l">
              <a:defRPr sz="180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출시 전 UX 개선을 증명합니다.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579D50-35C5-490C-80C2-05F81D6F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71600"/>
            <a:ext cx="3295650" cy="32385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1023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2F6B5C-37C4-457F-9A81-90ABE888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BEFORE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E0ADFE-16A3-4C85-81DE-8CBF8708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14550"/>
            <a:ext cx="247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FF806C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FF806C"/>
                </a:solidFill>
                <a:latin typeface="Malgun Gothic"/>
                <a:ea typeface="Malgun Gothic"/>
                <a:cs typeface="Malgun Gothic"/>
              </a:rPr>
              <a:t>0 / 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D1F001-064B-4CAF-A1E6-2F7C3CCA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146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6E5E3D-DDC8-4E72-A62D-C6A92211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242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AFTER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E9194B-0237-43E6-B821-4798F8F3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29050"/>
            <a:ext cx="247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D9FF57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D9FF57"/>
                </a:solidFill>
                <a:latin typeface="Malgun Gothic"/>
                <a:ea typeface="Malgun Gothic"/>
                <a:cs typeface="Malgun Gothic"/>
              </a:rPr>
              <a:t>3 / 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531AFD-DF50-474B-8C9B-8D99A428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743575"/>
            <a:ext cx="790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PLAN  →  PARALLEL  →  REVIEW  →  INTEGRATE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A9EEB3-C194-4A15-862D-7732163D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734050"/>
            <a:ext cx="819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TEAM 2</a:t>
            </a:r>
          </a:p>
        </p:txBody>
      </p:sp>
    </p:spTree>
    <p:extLst>
      <p:ext uri="{BB962C8B-B14F-4D97-AF65-F5344CB8AC3E}">
        <p14:creationId xmlns:p14="http://schemas.microsoft.com/office/powerpoint/2010/main" val="11495609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C01114-9BFB-4545-9F5D-792C5CB1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3714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01 · PROBLEM / DIFFERENTIATION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455BCA-B856-456C-BD72-616A94FB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715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빠른 출시는 쉬워졌지만, 출시 전 검증은 아직 혼자 감당합니다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3E0C64-91A7-4616-9377-6255056D8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38275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DEE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7B7689-FAF2-472A-A909-D77AEA0A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PERSONAFLIGHT · CODEX COMMUNITY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44B9AA-D2B7-4B5D-B5C9-F0F6687C0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FFFDCB-5A08-4F2E-83B5-FBD7C44E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52625"/>
            <a:ext cx="3333750" cy="148590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B6F71B-5BB5-4289-8F3A-A998595B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FA7BF9-C988-4B7E-9C59-2ED229B0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출시 속도 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11E7B5-E10C-4D85-B074-15CEEDCB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90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코드는 하루 만에 완성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2EB584-4FBC-4FE9-B2F7-E5526AC9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952625"/>
            <a:ext cx="3333750" cy="148590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08152B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722D53-74AD-400D-A7A5-678EBF64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1526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B3DC3D-C6FE-4F44-9030-5030C730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527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검증 자원 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608BF4-A758-4E96-B950-A4F7D04D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90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QA·리서처·테스터가 없음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C6A350-3E5B-453C-B2C7-D9BC350E2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952625"/>
            <a:ext cx="3333750" cy="148590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BD49D1-4575-4B72-8BBD-0B598E46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526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92A525-40A9-42E4-8B44-6373269F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527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문제 발견 지연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A2657F-6D0E-4DBD-98D6-3C01D732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990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이탈·리젝 후에야 수정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647091-FDA6-4A11-9596-BE5213642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43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기존 AI UX 리뷰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971692-9655-4010-8C57-5FC5F9F2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86250"/>
            <a:ext cx="4238625" cy="13144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B1E49B-AEC4-4EAD-AD92-4176449BC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2950"/>
            <a:ext cx="3762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“버튼을 더 눈에 띄게 하세요”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80F811-98AC-41E3-BE00-D6A7606C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05777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일반적 의견 · 근거 없음 · 재현 불가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D57251-C36E-400B-AE1A-7A43A330A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629150"/>
            <a:ext cx="68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1D25C7-4DA9-47C6-AF9F-5ABC9247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38600"/>
            <a:ext cx="5829300" cy="1695450"/>
          </a:xfrm>
          <a:prstGeom xmlns:a="http://schemas.openxmlformats.org/drawingml/2006/main" prst="roundRect">
            <a:avLst>
              <a:gd name="adj" fmla="val 12360"/>
            </a:avLst>
          </a:prstGeom>
          <a:solidFill xmlns:a="http://schemas.openxmlformats.org/drawingml/2006/main">
            <a:srgbClr val="D9FF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07B243-72D9-4BDE-976D-8EBF7BC5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05300"/>
            <a:ext cx="514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PersonaFlight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454881-33CF-4C61-A26A-81A19BC4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33925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58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Evidence ID → 최소 diff → 사람 승인 → 동일 조건 replay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7F3C30-4503-40A9-ADB7-53FDB16E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959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‘좋아 보임’이 아니라 ‘같은 조건에서 통과함’을 남깁니다.</a:t>
            </a:r>
          </a:p>
        </p:txBody>
      </p:sp>
    </p:spTree>
    <p:extLst>
      <p:ext uri="{BB962C8B-B14F-4D97-AF65-F5344CB8AC3E}">
        <p14:creationId xmlns:p14="http://schemas.microsoft.com/office/powerpoint/2010/main" val="16492293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5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50CD49-73C1-4FB6-9243-309473FC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3714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02 · PRODUCT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F50337-832D-4A2C-9C8F-6EF73CE2E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715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하나의 미션, 정확히 세 조건, 같은 조건으로 다시 재판합니다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D0D2A9-36D6-4FA1-98D2-3F1FD4DD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38275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234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5B5FA9-1712-4BDA-953D-5ACEFA9E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PERSONAFLIGHT · CODEX COMMUNITY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9B7CFA-8366-4A28-A497-C3FFD145B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CCDA3D-EB30-4925-A0C4-C684CF19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383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MISSION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85749B-620C-4C71-88C1-1FD7CE94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33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할 일을 만들고 Today 목록에 추가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A57E5B-1ABC-4FDD-91C0-F5C6E53F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05150"/>
            <a:ext cx="3333750" cy="1809750"/>
          </a:xfrm>
          <a:prstGeom xmlns:a="http://schemas.openxmlformats.org/drawingml/2006/main" prst="roundRect">
            <a:avLst>
              <a:gd name="adj" fmla="val 11579"/>
            </a:avLst>
          </a:prstGeom>
          <a:solidFill xmlns:a="http://schemas.openxmlformats.org/drawingml/2006/main">
            <a:srgbClr val="1023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7C22C5-2FCE-48F3-AC34-1FDAEE1E3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2956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BB6CA-C25E-49B2-ABCE-8A90028D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338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TOUCH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1E90BB-AD4A-4CEB-B3B9-3F021044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2100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small viewport</a:t>
            </a:r>
          </a:p>
          <a:p xmlns:a="http://schemas.openxmlformats.org/drawingml/2006/main">
            <a:pPr algn="l">
              <a:defRPr sz="120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+touch-only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91B5C9-E0BD-4437-8EFC-55CB5E52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105150"/>
            <a:ext cx="3333750" cy="1809750"/>
          </a:xfrm>
          <a:prstGeom xmlns:a="http://schemas.openxmlformats.org/drawingml/2006/main" prst="roundRect">
            <a:avLst>
              <a:gd name="adj" fmla="val 11579"/>
            </a:avLst>
          </a:prstGeom>
          <a:solidFill xmlns:a="http://schemas.openxmlformats.org/drawingml/2006/main">
            <a:srgbClr val="1023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9AC8DE-A604-418F-A635-F03D31F0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2956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F43024-6179-431E-ABEE-CB1250B5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7338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PATIENCE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903D2B-053C-4BB0-B38C-0E328AAE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42100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delayed feedback</a:t>
            </a:r>
          </a:p>
          <a:p xmlns:a="http://schemas.openxmlformats.org/drawingml/2006/main">
            <a:pPr algn="l">
              <a:defRPr sz="120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+low patience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18D3C0-2983-4388-8CB5-0265FB1B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05150"/>
            <a:ext cx="3333750" cy="1809750"/>
          </a:xfrm>
          <a:prstGeom xmlns:a="http://schemas.openxmlformats.org/drawingml/2006/main" prst="roundRect">
            <a:avLst>
              <a:gd name="adj" fmla="val 11579"/>
            </a:avLst>
          </a:prstGeom>
          <a:solidFill xmlns:a="http://schemas.openxmlformats.org/drawingml/2006/main">
            <a:srgbClr val="D9FF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914264-FD5E-46DD-AE88-85717E22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2956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741ADF-7D68-4A96-9FEE-500F2279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7338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INFERENCE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D8DF20-A9FF-4894-AF3E-62EE404A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2100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ambiguous copy</a:t>
            </a:r>
          </a:p>
          <a:p xmlns:a="http://schemas.openxmlformats.org/drawingml/2006/main">
            <a:pPr algn="l">
              <a:defRPr sz="12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+reduced inference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16442E-47EC-4DC5-B911-4F227E10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24475"/>
            <a:ext cx="1080135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A81D76-79B8-4256-8AFD-01BFE7AF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95925"/>
            <a:ext cx="781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불변식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A25506-F393-4277-BFD9-1C3E3843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4483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mission ID · app version · condition set이 바뀌면 비교를 거부</a:t>
            </a:r>
          </a:p>
        </p:txBody>
      </p:sp>
    </p:spTree>
    <p:extLst>
      <p:ext uri="{BB962C8B-B14F-4D97-AF65-F5344CB8AC3E}">
        <p14:creationId xmlns:p14="http://schemas.microsoft.com/office/powerpoint/2010/main" val="12147266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B9D4B2-A08C-487F-91ED-D6A23686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3714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03 · WORKING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B6B637-0B31-4704-841F-C2ADFEE12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715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90초 핵심 흐름: PLAN → PARALLEL → REVIEW → INTEGRATE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905127-05BB-447E-93E8-9A435B4C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38275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DEE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E19C5A-FDE6-4886-820E-1E73AD85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PERSONAFLIGHT · CODEX COMMUNITY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3BA545-B503-4AA1-B931-42C12A0ED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0F06F7-098A-4E8B-88A2-D3DA851E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71650"/>
            <a:ext cx="2476500" cy="895350"/>
          </a:xfrm>
          <a:prstGeom xmlns:a="http://schemas.openxmlformats.org/drawingml/2006/main" prst="roundRect">
            <a:avLst>
              <a:gd name="adj" fmla="val 191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92FB53-F625-444B-8DD3-BD84E254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33575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01  PLAN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B7D633-074C-4301-ACD2-215AE829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14575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미션·3조건 고정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A704AF-F8CE-4795-9E9E-9C414EC5D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288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F058D9-3231-430B-96F6-F1438B94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71650"/>
            <a:ext cx="2476500" cy="895350"/>
          </a:xfrm>
          <a:prstGeom xmlns:a="http://schemas.openxmlformats.org/drawingml/2006/main" prst="roundRect">
            <a:avLst>
              <a:gd name="adj" fmla="val 191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7F2719-9737-450E-BC4B-1534852A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933575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02  PARALLEL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419A06-8A12-431A-822B-1CACC0A5D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14575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BEFORE 증거 수집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50D2C5-BC19-4CC9-A5F5-C91177B7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288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4C7E59-8399-47C1-8EC2-BFCC09B5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771650"/>
            <a:ext cx="2476500" cy="895350"/>
          </a:xfrm>
          <a:prstGeom xmlns:a="http://schemas.openxmlformats.org/drawingml/2006/main" prst="roundRect">
            <a:avLst>
              <a:gd name="adj" fmla="val 191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B6BD81-116B-49E9-BA24-991BCB91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33575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03 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17FCDF-35C5-4CC0-ACA4-68D5CA98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14575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최소 diff + 승인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2B1246-0812-4B92-A067-85ACDD5C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288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5C718C-7C43-447F-9D41-A519EFEA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771650"/>
            <a:ext cx="2476500" cy="895350"/>
          </a:xfrm>
          <a:prstGeom xmlns:a="http://schemas.openxmlformats.org/drawingml/2006/main" prst="roundRect">
            <a:avLst>
              <a:gd name="adj" fmla="val 19149"/>
            </a:avLst>
          </a:prstGeom>
          <a:solidFill xmlns:a="http://schemas.openxmlformats.org/drawingml/2006/main">
            <a:srgbClr val="D9FF57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46CDA4-8385-4C8C-A199-649C67E5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933575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04  INTEGRATE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CC84F4-369E-46E9-BA79-C2449C8A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14575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동일 replay + seed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53b06b67ec4d96"/>
          <a:srcRect xmlns:a="http://schemas.openxmlformats.org/drawingml/2006/main" l="0" t="27582" r="0" b="275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028950"/>
            <a:ext cx="10801350" cy="2724150"/>
          </a:xfrm>
          <a:prstGeom xmlns:a="http://schemas.openxmlformats.org/drawingml/2006/main" prst="roundRect">
            <a:avLst>
              <a:gd name="adj" fmla="val 6294"/>
            </a:avLst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530AC6-DF74-4A9F-9DCF-3A246D02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886450"/>
            <a:ext cx="34290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15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CA312C-907B-49E4-84D4-80C7354D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924550"/>
            <a:ext cx="3276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CLICKABLE · NO ACCOUNT · NO API KEY</a:t>
            </a:r>
          </a:p>
        </p:txBody>
      </p:sp>
    </p:spTree>
    <p:extLst>
      <p:ext uri="{BB962C8B-B14F-4D97-AF65-F5344CB8AC3E}">
        <p14:creationId xmlns:p14="http://schemas.microsoft.com/office/powerpoint/2010/main" val="8701202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5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97AE2C-EAFC-4F05-AE7B-633C8848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3714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04 ·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6FEACB-A5FF-4F1A-A0F0-F9D2DED7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715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작동하는 제품의 증거: 0/3에서 3/3까지 같은 기록으로 연결됩니다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AD7D1B-C900-4761-B079-5361F9A1F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38275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234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E8BFC4-A132-4DE9-B30F-21B3F691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PERSONAFLIGHT · CODEX COMMUNITY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CA18D8-7142-42F5-BAD5-C6C7B77F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905e65658c4fa8"/>
          <a:srcRect xmlns:a="http://schemas.openxmlformats.org/drawingml/2006/main" l="121" t="0" r="12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790700"/>
            <a:ext cx="5219700" cy="2943225"/>
          </a:xfrm>
          <a:prstGeom xmlns:a="http://schemas.openxmlformats.org/drawingml/2006/main" prst="roundRect">
            <a:avLst>
              <a:gd name="adj" fmla="val 5825"/>
            </a:avLst>
          </a:prstGeom>
        </p:spPr>
      </p:pic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65bc271c5a486c"/>
          <a:srcRect xmlns:a="http://schemas.openxmlformats.org/drawingml/2006/main" l="121" t="0" r="12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57900" y="1790700"/>
            <a:ext cx="5219700" cy="2943225"/>
          </a:xfrm>
          <a:prstGeom xmlns:a="http://schemas.openxmlformats.org/drawingml/2006/main" prst="roundRect">
            <a:avLst>
              <a:gd name="adj" fmla="val 5825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9DC1BF-BCCE-4EDE-AEAB-6E5AE294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1657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06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5E328B-31C3-4811-A946-8D455DA6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504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BEFORE · 0/3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F9541D-2241-41C0-BDB8-49F18449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95850"/>
            <a:ext cx="16573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FF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BDA2A-C55B-41B6-9201-8031764A4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933950"/>
            <a:ext cx="1504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AFTER · 3/3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E53581-BCD0-4155-A6E3-DA346E0F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10200"/>
            <a:ext cx="1082040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1023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7A501C-2CB4-493D-AF5C-05600C901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53075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EV-TOUCH-01  ·  EV-WAIT-02  ·  EV-COPY-03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3F8E1D-BE24-477B-A585-A957530B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553075"/>
            <a:ext cx="445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Flight Record + regression seed JSON</a:t>
            </a:r>
          </a:p>
        </p:txBody>
      </p:sp>
    </p:spTree>
    <p:extLst>
      <p:ext uri="{BB962C8B-B14F-4D97-AF65-F5344CB8AC3E}">
        <p14:creationId xmlns:p14="http://schemas.microsoft.com/office/powerpoint/2010/main" val="13923374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C72BE05-15FF-4BAA-9CF5-5CB9B81E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3714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05 · CODEX BUILD ORCHESTRATION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0AA059-B07B-4842-A11F-DBA7B1871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715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AI 사용량이 아니라, 네 명과 AI가 함께 일한 방식을 남겼습니다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15D661-CD17-4566-9355-BCD31EF1B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38275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DEE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0ADB07-0165-4BF2-9CE2-C1D99D1D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PERSONAFLIGHT · CODEX COMMUNITY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3BA424-635C-4F97-B864-41BFFAE0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8C85EF-F58B-4F4A-ABB9-58D93257F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47850"/>
            <a:ext cx="2476500" cy="2305050"/>
          </a:xfrm>
          <a:prstGeom xmlns:a="http://schemas.openxmlformats.org/drawingml/2006/main" prst="roundRect">
            <a:avLst>
              <a:gd name="adj" fmla="val 82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BED04E-6E83-4F65-99DC-369425E7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574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CE6F2F-5538-4918-9C37-FBE57F09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95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PLAN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55F2DC-5F7C-4107-8CCD-EDB82015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09900"/>
            <a:ext cx="1019175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15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D4C369-E08F-4BB3-BE87-5004365C5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8667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PC1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A4217F-EE99-4490-8B6F-64DA5BB8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623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계약·baseline·완료 형식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1C042-8EE0-4E45-B323-28DA5E9A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47850"/>
            <a:ext cx="2476500" cy="2305050"/>
          </a:xfrm>
          <a:prstGeom xmlns:a="http://schemas.openxmlformats.org/drawingml/2006/main" prst="roundRect">
            <a:avLst>
              <a:gd name="adj" fmla="val 82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B5C43D-B2B3-4DBA-A54D-A45858E6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574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93B9F1-3BE9-4102-BBF9-22CFDB94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95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PARALLEL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EC6193-CA31-4435-A6E9-88C01504E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009900"/>
            <a:ext cx="1590675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15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6C048E-D3BF-4A29-A48F-0E97F35B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48000"/>
            <a:ext cx="14382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PC2 / PC3 / PC4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98F93D-777A-4064-9FDC-BF6E38B8F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623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UI · Replay · QA 분리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F5DDDA-8842-427A-B52A-2E9069A0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847850"/>
            <a:ext cx="2476500" cy="2305050"/>
          </a:xfrm>
          <a:prstGeom xmlns:a="http://schemas.openxmlformats.org/drawingml/2006/main" prst="roundRect">
            <a:avLst>
              <a:gd name="adj" fmla="val 8264"/>
            </a:avLst>
          </a:prstGeom>
          <a:solidFill xmlns:a="http://schemas.openxmlformats.org/drawingml/2006/main">
            <a:srgbClr val="08152B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759DE4-B656-4B98-AB2E-7F45A68B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574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A9B298-CA43-4174-B62F-9D9DABB79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95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REVIEW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3E08FA-B3BB-4472-AC26-7E613257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09900"/>
            <a:ext cx="1400175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0E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D88836-6742-4000-BE71-4F38776A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48000"/>
            <a:ext cx="12477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CODEX + PC1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D19955-6304-4E1B-891F-58EA3D19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623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실패를 숨기지 않는 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6DADE4-EF95-4FE4-8561-D1FEE006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47850"/>
            <a:ext cx="2476500" cy="2305050"/>
          </a:xfrm>
          <a:prstGeom xmlns:a="http://schemas.openxmlformats.org/drawingml/2006/main" prst="roundRect">
            <a:avLst>
              <a:gd name="adj" fmla="val 8264"/>
            </a:avLst>
          </a:prstGeom>
          <a:solidFill xmlns:a="http://schemas.openxmlformats.org/drawingml/2006/main">
            <a:srgbClr val="D9FF57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888206-DDED-4877-87B7-E8CBB77D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574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3B9206-30FF-400B-8A94-54D05E53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95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INTEGRATE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03F017-C3F8-4757-A2D1-C0F7C20C6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009900"/>
            <a:ext cx="1019175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15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A64ED3-EE73-4EBE-BF1E-C2B58E470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048000"/>
            <a:ext cx="8667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PC1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4CE930-60B6-4300-BEE7-84F38006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623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PR 선택 병합·회귀 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C0A9D5-820D-4AC3-905C-6BA1A13A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291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REVIEW에서 실제로 막은 것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BD9604-F0F4-4DB5-B696-C5E291BF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19675"/>
            <a:ext cx="24765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7D462C-53EF-4173-A36D-B231085B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197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빈/unknown Evidence ID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BAB19F-2808-45FA-9D3D-07A071CB2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19675"/>
            <a:ext cx="24765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65C5CE-A6C4-4DFB-8AAF-99F6305C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52197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infra failure의 성공 오판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1A632D-92BC-4508-839F-0436094E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019675"/>
            <a:ext cx="24765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A12BCF-7B23-44BD-953C-10C21E4A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2197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경로 회귀로 E2E red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D57BD21-0297-4EAA-AAFE-5AF5B6E13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019675"/>
            <a:ext cx="24765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02345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A69D32C-29F2-4912-B35F-D9509253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52197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green 확인 후에만 병합</a:t>
            </a:r>
          </a:p>
        </p:txBody>
      </p:sp>
    </p:spTree>
    <p:extLst>
      <p:ext uri="{BB962C8B-B14F-4D97-AF65-F5344CB8AC3E}">
        <p14:creationId xmlns:p14="http://schemas.microsoft.com/office/powerpoint/2010/main" val="19095163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15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143056A-1E3F-422C-AF0A-E72B36FD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3714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06 · ARCHITECTURE / TRUST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0FFA35-8AE6-4F00-9D92-AEA00FF0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715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UI보다 중요한 것은 실패를 성공처럼 보이지 않게 하는 계약입니다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020FCB-198C-4F46-B268-99BC2FE3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38275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234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6CA15-B751-4421-A236-C36E390AB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PERSONAFLIGHT · CODEX COMMUNITY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A3AD50-30B4-468C-93D2-98AEF7B0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8977BE-5382-40F5-AB5C-86959ECD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00250"/>
            <a:ext cx="2476500" cy="125730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1023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5B8A70-99B0-4B08-AA40-4DE52617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383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NEXT / REACT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CF0293-E15F-46EA-BF34-4295A2191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0510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product UI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2B0E3A-0758-4152-8315-F7FCC67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8125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55064B-FA62-4FC3-BC93-06C38CEC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00250"/>
            <a:ext cx="2476500" cy="125730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D9FF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191AD5-2192-4DFC-A931-DF207947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2383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ZOD CONTRACTS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D37E7C-457E-4D4F-8468-9ECC1C127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70510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mission · evidence · record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632115-77FC-4942-A477-53544CAF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38125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39F966-CE00-4E81-9D20-9E7A736B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00250"/>
            <a:ext cx="2476500" cy="125730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1023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B1447B-0151-4520-A480-EEA2885E2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REPLAY ENGINE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A690E6-4ADB-4E8B-9DE2-DBC88DDD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0510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comparison · verdict · seed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DD8431-7304-4ADE-B82D-153BF698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38125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03F335-9C9E-4E7B-A71D-06F8BFD2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00250"/>
            <a:ext cx="2476500" cy="125730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1023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E4A3A9-BA2D-42E8-A5E9-5A230C2B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383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VITEST / PLAYWRIGHT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DE8CC2-2ED3-4842-B206-C85FCF8E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0510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unit · integration · E2E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BA4D1F-8E10-4DF7-8D8A-58991202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0"/>
            <a:ext cx="2457450" cy="1123950"/>
          </a:xfrm>
          <a:prstGeom xmlns:a="http://schemas.openxmlformats.org/drawingml/2006/main" prst="roundRect">
            <a:avLst>
              <a:gd name="adj" fmla="val 152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55D776-7735-465B-B999-8F8A63E4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71925"/>
            <a:ext cx="207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49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C9CE54-F70D-443B-8AAD-00C9BB09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4375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unit / component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D1DCBF-D8EF-4F55-929B-5B67C32A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10000"/>
            <a:ext cx="2457450" cy="1123950"/>
          </a:xfrm>
          <a:prstGeom xmlns:a="http://schemas.openxmlformats.org/drawingml/2006/main" prst="roundRect">
            <a:avLst>
              <a:gd name="adj" fmla="val 152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A1079E-DA2D-41DF-BEC0-ED6C0FF91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71925"/>
            <a:ext cx="207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7864DE-83BF-4CDA-9F8A-490B9B04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524375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integration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24AA8-783B-41FA-B2A2-6C99F5966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810000"/>
            <a:ext cx="2457450" cy="1123950"/>
          </a:xfrm>
          <a:prstGeom xmlns:a="http://schemas.openxmlformats.org/drawingml/2006/main" prst="roundRect">
            <a:avLst>
              <a:gd name="adj" fmla="val 152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B4C183-B8F2-49D9-91BF-682663D0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207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B2159F-3A74-458C-9A06-EE1CD098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524375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Chromium E2E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D6EF11-C22C-42EF-8DDB-99DA4199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10000"/>
            <a:ext cx="2457450" cy="1123950"/>
          </a:xfrm>
          <a:prstGeom xmlns:a="http://schemas.openxmlformats.org/drawingml/2006/main" prst="roundRect">
            <a:avLst>
              <a:gd name="adj" fmla="val 15254"/>
            </a:avLst>
          </a:prstGeom>
          <a:solidFill xmlns:a="http://schemas.openxmlformats.org/drawingml/2006/main">
            <a:srgbClr val="D9FF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A5DCA6-8198-4CDF-959C-EB897F43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971925"/>
            <a:ext cx="2076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98.74%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D1953D-5850-4D9E-B896-253310DB7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524375"/>
            <a:ext cx="2076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line coverage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9609ED-0004-4E12-8F48-78F0D497D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67325"/>
            <a:ext cx="1080135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023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DCAE246-51BA-4D39-98AE-40365E5A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387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806C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806C"/>
                </a:solidFill>
                <a:latin typeface="Malgun Gothic"/>
                <a:ea typeface="Malgun Gothic"/>
                <a:cs typeface="Malgun Gothic"/>
              </a:rPr>
              <a:t>CLEARED 금지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C4E517-386B-42A4-B86C-FDC1DABE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400675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하나라도 미통과하거나 infrastructure failure면 release success를 표시하지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8719800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CA60F0-C139-498C-866A-A6534FE4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3714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07 · VALUE / VIABILITY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723274-C4E6-4314-A22B-9712C8AA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715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‘AI 의견’에서 ‘출시 전 품질 게이트’로 확장합니다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FD814A-2A58-431D-8884-EFE8FD75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38275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DEE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275A91-6340-4F5F-8763-B7283FDFA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PERSONAFLIGHT · CODEX COMMUNITY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E6BF54-3848-481D-96BA-EC1B3CC4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C6F5E7-E05B-4A68-BBD3-B2DB9163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47850"/>
            <a:ext cx="952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FF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0C2578-8C8E-4953-AEDF-A17F98E44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859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NOW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40F5B1-D054-4860-8E40-B848B105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857375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고정 FocusList synthetic replay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1CDEF8-E01F-4FD7-963E-6C624FF32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87642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rPr>
              <a:t>검증 완료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B8A109-8D75-44DA-A9F3-B569695DC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466975"/>
            <a:ext cx="9544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B5D83A-F60D-4410-A769-2B828DF65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0"/>
            <a:ext cx="952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15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6F75C5-70CD-4059-B782-A4138E68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908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248C7D-664B-4ED4-8030-D279CDE5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62275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preview URL sandbox runner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8085C6-9EEF-4B26-99BB-76321A33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98132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브라우저 증거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220671-F847-4219-8BDE-F1E3BBA2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71875"/>
            <a:ext cx="9544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B67E70-E6C7-4019-BADF-7B73C2FD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57650"/>
            <a:ext cx="9525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15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0296C5-D330-4B28-B655-E503005C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THEN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9F688B-7E36-4D64-A680-782F6540F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67175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승인 patch + PR/CI Flight Record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4E74B2-31F9-4375-BE86-A61FE9D9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08622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반복 구독 가치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B3CB68-6A15-485E-9750-F070EF2B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81625"/>
            <a:ext cx="1080135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815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DE0203-A994-4609-A489-5EE5FEFE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github.com/sunnn62/Codex-Hackaton-02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1216EA-812C-4BBD-9A8B-D6500D28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816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Synthetic ≠ 실제 사용자 예측</a:t>
            </a:r>
          </a:p>
        </p:txBody>
      </p:sp>
    </p:spTree>
    <p:extLst>
      <p:ext uri="{BB962C8B-B14F-4D97-AF65-F5344CB8AC3E}">
        <p14:creationId xmlns:p14="http://schemas.microsoft.com/office/powerpoint/2010/main" val="23052252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39C489-6BD4-4AE2-9F54-79EDC2199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3714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APPENDIX A1 · CONTRACTS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E0EC77-13E1-4A17-B22B-BAF9BA7C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715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공용 계약과 핵심 불변식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D3CDAF-1623-4D3D-825E-7CA2D7F8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38275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DEE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5FDB00-9ED4-49D1-B813-89DCA258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PERSONAFLIGHT · CODEX COMMUNITY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F06C25-1AA1-4333-B9B8-0B66C871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BD1BE6-FFF8-44DA-A997-2EC6466C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66900"/>
            <a:ext cx="1943100" cy="647700"/>
          </a:xfrm>
          <a:prstGeom xmlns:a="http://schemas.openxmlformats.org/drawingml/2006/main" prst="roundRect">
            <a:avLst>
              <a:gd name="adj" fmla="val 22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9803B8-6550-4EA9-8823-4764BF61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764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MissionContract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46547B-915E-4220-B96B-E494DD123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66900"/>
            <a:ext cx="1943100" cy="647700"/>
          </a:xfrm>
          <a:prstGeom xmlns:a="http://schemas.openxmlformats.org/drawingml/2006/main" prst="roundRect">
            <a:avLst>
              <a:gd name="adj" fmla="val 22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E1A18A-CE9C-4117-AF00-AE9E23621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764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FaultCondition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70A67D-517C-4CCA-9436-02CD737D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866900"/>
            <a:ext cx="1943100" cy="647700"/>
          </a:xfrm>
          <a:prstGeom xmlns:a="http://schemas.openxmlformats.org/drawingml/2006/main" prst="roundRect">
            <a:avLst>
              <a:gd name="adj" fmla="val 22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A1BDA9-8A61-44DC-AF21-EC6B38FF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0764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ActionEvidence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DD284A-00DF-496D-AEC0-7CD00008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66900"/>
            <a:ext cx="1943100" cy="647700"/>
          </a:xfrm>
          <a:prstGeom xmlns:a="http://schemas.openxmlformats.org/drawingml/2006/main" prst="roundRect">
            <a:avLst>
              <a:gd name="adj" fmla="val 22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5B49FC-4B89-4F41-9B2A-097DA0C9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0764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Finding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7B7616-033F-4D54-8C24-085981B5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66900"/>
            <a:ext cx="1943100" cy="647700"/>
          </a:xfrm>
          <a:prstGeom xmlns:a="http://schemas.openxmlformats.org/drawingml/2006/main" prst="roundRect">
            <a:avLst>
              <a:gd name="adj" fmla="val 22059"/>
            </a:avLst>
          </a:prstGeom>
          <a:solidFill xmlns:a="http://schemas.openxmlformats.org/drawingml/2006/main">
            <a:srgbClr val="D9FF57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3A6BD4-A1A2-4C27-A6BF-B55A062E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PatchProposal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CBF1AE-017C-4000-AFF1-6049072E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943100" cy="647700"/>
          </a:xfrm>
          <a:prstGeom xmlns:a="http://schemas.openxmlformats.org/drawingml/2006/main" prst="roundRect">
            <a:avLst>
              <a:gd name="adj" fmla="val 22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006465-65BD-43AD-8EC9-F9EC2402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ReplayRun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608715-1524-40A4-BD29-8F95C05CD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743200"/>
            <a:ext cx="1943100" cy="647700"/>
          </a:xfrm>
          <a:prstGeom xmlns:a="http://schemas.openxmlformats.org/drawingml/2006/main" prst="roundRect">
            <a:avLst>
              <a:gd name="adj" fmla="val 22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AA2C7C-1173-4561-80AF-95EF62A8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952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ReplayComparison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F2CEA0-0C5C-436C-8AE2-A30C738BE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43200"/>
            <a:ext cx="1943100" cy="647700"/>
          </a:xfrm>
          <a:prstGeom xmlns:a="http://schemas.openxmlformats.org/drawingml/2006/main" prst="roundRect">
            <a:avLst>
              <a:gd name="adj" fmla="val 22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530DA7-CD94-4B3A-829A-22A65D68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952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FlightRecord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DBC8F4-D2C4-4712-9BCD-E756A747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743200"/>
            <a:ext cx="1943100" cy="647700"/>
          </a:xfrm>
          <a:prstGeom xmlns:a="http://schemas.openxmlformats.org/drawingml/2006/main" prst="roundRect">
            <a:avLst>
              <a:gd name="adj" fmla="val 22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6D8288-ED4E-4E48-B415-F1ADD76F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52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RegressionSeed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EC72B5-8D6F-4859-96B7-DF0281EE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43200"/>
            <a:ext cx="1943100" cy="647700"/>
          </a:xfrm>
          <a:prstGeom xmlns:a="http://schemas.openxmlformats.org/drawingml/2006/main" prst="roundRect">
            <a:avLst>
              <a:gd name="adj" fmla="val 22059"/>
            </a:avLst>
          </a:prstGeom>
          <a:solidFill xmlns:a="http://schemas.openxmlformats.org/drawingml/2006/main">
            <a:srgbClr val="D9FF57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2D597A-9CE4-4804-927F-2E5A82493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952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PersonaProfile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518FDE-1C5E-4175-8BD7-14AF8D15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10801350" cy="17145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815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45E2F7-A057-4E91-A291-9FBA62050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719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✓  exactly 3 unique conditions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A6DE3F-77B0-4A7A-B861-5CE7AC47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1719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✓  before/after mission invariant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6771BD-9F1B-47AF-B754-B7FF9C29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910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✓  evidence ID required and known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A3DEFD-5C4C-4549-94CE-EE1A3DC9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5910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✓  infrastructure failure → partial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4F1F6D-C826-4ABB-9CCD-7CF419CF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01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FF57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D9FF57"/>
                </a:solidFill>
                <a:latin typeface="Malgun Gothic"/>
                <a:ea typeface="Malgun Gothic"/>
                <a:cs typeface="Malgun Gothic"/>
              </a:rPr>
              <a:t>✓  verdict derives from actual runs</a:t>
            </a:r>
          </a:p>
        </p:txBody>
      </p:sp>
    </p:spTree>
    <p:extLst>
      <p:ext uri="{BB962C8B-B14F-4D97-AF65-F5344CB8AC3E}">
        <p14:creationId xmlns:p14="http://schemas.microsoft.com/office/powerpoint/2010/main" val="12396692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8DA45DF-66F2-40C8-A9CF-AFAE2DB8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3714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APPENDIX A2 · 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E8CCD3-104F-447D-80F3-A915045B3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715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재현 가능한 검증 매트릭스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B14E1-1294-41E8-81ED-E14F7108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38275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DEE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DBAA3D-8A66-446B-8449-5972108B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PERSONAFLIGHT · CODEX COMMUNITY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598585-ED71-47C8-A170-7E90C0B45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41BE41-BC44-4094-9983-98FB72BC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748A4F-EF27-4729-A335-35DAC7C1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809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수치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68D78D-3B00-418D-BA38-912C6F1ED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809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상태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2F3F2D-7E7D-41E1-9002-824E9719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9750"/>
            <a:ext cx="3733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906AAC-FB09-4310-AE01-B63A5C676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108013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AB2671-B2F3-4F3A-AE36-E64FBE4B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145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Unit / component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B29403-09FC-463D-8518-CCB13E6F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145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49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F47ECF-3D0C-4A40-BBAD-6B2C34DE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6695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E2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11DF21-3188-40B4-965A-BF2A7D9B1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050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AA8B36-E728-4068-95CA-6AA3F5E0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145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contracts · UI · seed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A3D410-2814-4219-9126-1679A539A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19400"/>
            <a:ext cx="108013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6E8CE4-062B-486B-ACFA-7CBD972EB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8132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Integration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929B0F-FA26-48E9-B996-8DBC1FD57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9813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62FB6F-5F2C-44BF-A667-7273B8E3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3370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E2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4AF9B0-AAD7-4305-9B08-A0DD5A2D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97180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9112FF-D86C-4B33-95CC-50FF583F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8132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trust boundaries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C116BF-6011-4020-8389-AF8DB516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86150"/>
            <a:ext cx="108013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64044A-D468-4A53-A65B-3EA6728E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480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Chromium E2E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E1CB62-F471-47DD-99E6-DE9931B6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480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F2F82E-73AA-4211-B84A-91FC4EC5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0045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E2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4E6AD2-1BC8-4F24-ADD3-EA6171F81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6385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3AAAF7-9556-4322-B151-6FA172AEE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480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desktop + 390×844 touch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8E9354-A98A-47DA-97C5-AB36B05F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52900"/>
            <a:ext cx="108013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8C30DC-977B-40D7-8549-0C8958B9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1482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Coverage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6D7272-247D-468A-B05F-367F94C90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148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98.74% lines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D929F2-BC27-45AE-AB9A-99E16F14C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26720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E2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449A61-0F60-48BC-A1B5-DD509AB7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30530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F1A09B-838D-4EE7-AA4B-F0CAB4A9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1482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94.56% branches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5D4284-85A6-406A-937A-379CFD831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19650"/>
            <a:ext cx="108013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F8DFCE-F2CF-43DD-8016-CC77E5D0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81575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Production build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A153303-3A75-4E66-8F5A-647AFDB3B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9815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Next.js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65366A-71AC-4268-BF53-6D0CC43F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93395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E2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3E26DF0-C6A9-47EC-8748-7AD7CE6D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9720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42B80E2-855C-4C5D-BDBC-BF19BC20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815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locked npm install</a:t>
            </a:r>
          </a:p>
        </p:txBody>
      </p:sp>
    </p:spTree>
    <p:extLst>
      <p:ext uri="{BB962C8B-B14F-4D97-AF65-F5344CB8AC3E}">
        <p14:creationId xmlns:p14="http://schemas.microsoft.com/office/powerpoint/2010/main" val="74616903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815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345625-CEE4-48F4-884E-CDEC3E8D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3714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APPENDIX A3 · PARALLEL INTEGRATION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AD9152-7FDF-4BC6-A044-66598C0C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715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4대 PC 작업과 PR 통합 원장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6ED860-709D-4D94-9818-F4FE96BA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38275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234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7C1B9F-F2DB-455F-9688-9C25EBF9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PERSONAFLIGHT · CODEX COMMUNITY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2BF2BD-E4BD-4B13-9249-13CAB1DE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E59D5B-74BB-405C-8995-B5245F520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10801350" cy="704850"/>
          </a:xfrm>
          <a:prstGeom xmlns:a="http://schemas.openxmlformats.org/drawingml/2006/main" prst="roundRect">
            <a:avLst>
              <a:gd name="adj" fmla="val 22973"/>
            </a:avLst>
          </a:prstGeom>
          <a:solidFill xmlns:a="http://schemas.openxmlformats.org/drawingml/2006/main">
            <a:srgbClr val="1023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5C6261-A1B8-4A61-A369-0D82D1AB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28825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PC1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8ED5C3-5BBE-4FC8-995F-B908BDDD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28825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Integrator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40A642-EA79-4A75-9BC2-CAC16967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28825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contracts · review · merge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551B4-BBCF-4AC2-BB33-2AF9B888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28825"/>
            <a:ext cx="2238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integration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DB2AF5-9DA0-4BB9-8733-16198043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05100"/>
            <a:ext cx="10801350" cy="704850"/>
          </a:xfrm>
          <a:prstGeom xmlns:a="http://schemas.openxmlformats.org/drawingml/2006/main" prst="roundRect">
            <a:avLst>
              <a:gd name="adj" fmla="val 22973"/>
            </a:avLst>
          </a:prstGeom>
          <a:solidFill xmlns:a="http://schemas.openxmlformats.org/drawingml/2006/main">
            <a:srgbClr val="D9FF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0C6819-5ABE-4186-9E6C-D495F7B7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PC2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27329E-FE55-45CF-A3E2-0AE90536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924175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Product UI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0724F3-8275-4996-B059-038D8626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24175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landing · project · persona · replay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A0C527-ABBA-44DC-8592-AD093449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24175"/>
            <a:ext cx="2238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PR #3 GREEN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17C560-6613-4537-BA09-4F6CA38F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00450"/>
            <a:ext cx="10801350" cy="704850"/>
          </a:xfrm>
          <a:prstGeom xmlns:a="http://schemas.openxmlformats.org/drawingml/2006/main" prst="roundRect">
            <a:avLst>
              <a:gd name="adj" fmla="val 22973"/>
            </a:avLst>
          </a:prstGeom>
          <a:solidFill xmlns:a="http://schemas.openxmlformats.org/drawingml/2006/main">
            <a:srgbClr val="1023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EB3BA1-5846-47E4-93E9-AFD2C02F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9525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PC3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C21F6A-0891-46B9-A631-36A80EFA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19525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Replay Engine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894A54-9716-4DCC-862D-94E02435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819525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evidence gate · comparison · seed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10EEA0-8DF5-497F-8040-D702CCD5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819525"/>
            <a:ext cx="2238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PR #1 MERGED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AC50D2-1C2C-42E3-880E-49C88C907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95800"/>
            <a:ext cx="10801350" cy="704850"/>
          </a:xfrm>
          <a:prstGeom xmlns:a="http://schemas.openxmlformats.org/drawingml/2006/main" prst="roundRect">
            <a:avLst>
              <a:gd name="adj" fmla="val 22973"/>
            </a:avLst>
          </a:prstGeom>
          <a:solidFill xmlns:a="http://schemas.openxmlformats.org/drawingml/2006/main">
            <a:srgbClr val="1023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BE0BFA-A385-4998-9A88-EF960C5F7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14875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80E1FF"/>
                </a:solidFill>
                <a:latin typeface="Malgun Gothic"/>
                <a:ea typeface="Malgun Gothic"/>
                <a:cs typeface="Malgun Gothic"/>
              </a:rPr>
              <a:t>PC4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E0D98C-CFD3-48D3-9009-3B9C7E37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714875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Release QA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C40464-2395-4853-B1F0-5B2DCA19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714875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trust tests · E2E · artifacts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930920-5EC2-463C-B3B7-2E536368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14875"/>
            <a:ext cx="2238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PR #2 MERGED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93ECFB-6B48-4E6F-8318-B66DEE18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1">
                <a:solidFill>
                  <a:srgbClr val="9AABC4"/>
                </a:solidFill>
                <a:latin typeface="Malgun Gothic"/>
                <a:ea typeface="Malgun Gothic"/>
                <a:cs typeface="Malgun Gothic"/>
              </a:rPr>
              <a:t>공통 Baseline SHA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691C0D-53E0-44C3-934C-124B4503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715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b24efb6ef2177c43e426a8346a0cdfa30ab59dff</a:t>
            </a:r>
          </a:p>
        </p:txBody>
      </p:sp>
    </p:spTree>
    <p:extLst>
      <p:ext uri="{BB962C8B-B14F-4D97-AF65-F5344CB8AC3E}">
        <p14:creationId xmlns:p14="http://schemas.microsoft.com/office/powerpoint/2010/main" val="170650828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485ABA-C5AE-43C6-9A88-818D568E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3714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APPENDIX A4 · HONEST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BE38A3-9BBC-49CF-91DD-8264B1E8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715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현재 구현의 한계와 다음 검증 단계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57FD9F-9F93-4B9E-81E9-AC35944A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38275"/>
            <a:ext cx="1127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6DEE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01B5FE-230D-4994-A9B3-1ADDAD6D3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6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PERSONAFLIGHT · CODEX COMMUNITY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0718AC-B127-4591-BBF3-966A304A3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997EEF-44F8-43FC-ADBB-C86A42D5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52647E"/>
                </a:solidFill>
                <a:latin typeface="Malgun Gothic"/>
                <a:ea typeface="Malgun Gothic"/>
                <a:cs typeface="Malgun Gothic"/>
              </a:rPr>
              <a:t>TODAY · PROVEN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977CD3-1989-411C-8CA8-AF2757BD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09750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72A7FF"/>
                </a:solidFill>
                <a:latin typeface="Malgun Gothic"/>
                <a:ea typeface="Malgun Gothic"/>
                <a:cs typeface="Malgun Gothic"/>
              </a:rPr>
              <a:t>NEXT · VALIDATE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6664F5-727C-4900-9FCF-A13FC457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71700"/>
            <a:ext cx="4857750" cy="30480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45D44E-B89E-4B85-B28D-41BEC99FA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71700"/>
            <a:ext cx="4857750" cy="30480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0815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4751E9-C9E8-4516-AA7F-26D0ABE2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✓  고정 FocusList fixture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883617-98BF-4DE0-8225-D35F4BD6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✓  결정론적 mock screen · diff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94B838-C19D-44EA-96ED-04D78E337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✓  실제 source mutation 없음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330D9C-21AC-4442-94BD-C1C866DF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862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✓  실제 사용자 연구 대체 안 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56C987-2408-495C-867B-704BF956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146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FF57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D9FF57"/>
                </a:solidFill>
                <a:latin typeface="Malgun Gothic"/>
                <a:ea typeface="Malgun Gothic"/>
                <a:cs typeface="Malgun Gothic"/>
              </a:rPr>
              <a:t>1.  preview URL sandbox runner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BC99F8-AB3F-437E-A3A9-4FDAEE599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051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 console · network · action trace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59D4E4-DA1A-4C3F-9B9A-CE79269C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957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 승인 patch preview 재실행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A0099D-49C8-4270-91EF-BAB573520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862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 synthetic vs. real-user 비교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1E5AB1-B5F1-4FF3-BCA9-53F60E6F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43550"/>
            <a:ext cx="108204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D9FF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ACAD16-4F29-46ED-8009-8B09525E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5785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8152B"/>
                </a:solidFill>
                <a:latin typeface="Malgun Gothic"/>
                <a:ea typeface="Malgun Gothic"/>
                <a:cs typeface="Malgun Gothic"/>
              </a:rPr>
              <a:t>신뢰 원칙: 검증하지 않은 기능·배포·효과는 완료로 표시하지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7998535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2026-08-16T08:22:22.1140000Z</dcterms:created>
  <dcterms:modified xsi:type="dcterms:W3CDTF">2026-08-16T08:22:22.1140000Z</dcterms:modified>
</coreProperties>
</file>